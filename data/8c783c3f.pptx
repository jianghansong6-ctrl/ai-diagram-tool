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The architecture of the detector follows the general DETR paradigm. The image and</a:t>
            </a:r>
            <a:br/>
            <a:r>
              <a:t>text prompt are first encoded by PE and image exemplars, if present, are encoded by an exemplar encoder.</a:t>
            </a:r>
            <a:br/>
            <a:r>
              <a:t>We refer to the image exemplar tokens and text tokens jointly as “prompt tokens”. The fusion encoder then</a:t>
            </a:r>
            <a:br/>
            <a:r>
              <a:t>accepts the unconditioned embeddings from the image encoder and conditions them by cross-attending to the</a:t>
            </a:r>
            <a:br/>
            <a:r>
              <a:t>prompt tokens. The fusion is followed by a DETR-like decoder, where learned object queries cross-attend to</a:t>
            </a:r>
            <a:br/>
            <a:r>
              <a:t>the conditioned image embeddings from the fusion encoder.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4300" y="388620"/>
            <a:ext cx="8915400" cy="66294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BDC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0" y="594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C3E50"/>
                </a:solidFill>
              </a:defRPr>
            </a:pPr>
            <a:r>
              <a:t>DETR范式检测器架构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731770"/>
            <a:ext cx="1485900" cy="571500"/>
          </a:xfrm>
          <a:prstGeom prst="roundRect">
            <a:avLst/>
          </a:prstGeom>
          <a:solidFill>
            <a:srgbClr val="F4ECF7"/>
          </a:solidFill>
          <a:ln w="25400">
            <a:solidFill>
              <a:srgbClr val="7D3C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/>
            </a:pPr>
            <a:r>
              <a:t>图像编码器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3817620"/>
            <a:ext cx="1600200" cy="571500"/>
          </a:xfrm>
          <a:prstGeom prst="roundRect">
            <a:avLst/>
          </a:prstGeom>
          <a:solidFill>
            <a:srgbClr val="F4ECF7"/>
          </a:solidFill>
          <a:ln w="25400">
            <a:solidFill>
              <a:srgbClr val="7D3C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/>
            </a:pPr>
            <a:r>
              <a:t>提示令牌编码器</a:t>
            </a:r>
            <a:br/>
            <a:r>
              <a:t>(PE &amp; 示例编码)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617470"/>
            <a:ext cx="1600200" cy="800100"/>
          </a:xfrm>
          <a:prstGeom prst="roundRect">
            <a:avLst/>
          </a:prstGeom>
          <a:solidFill>
            <a:srgbClr val="FDEDE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/>
            </a:pPr>
            <a:r>
              <a:t>融合编码器</a:t>
            </a:r>
            <a:br/>
            <a:r>
              <a:t>(交叉注意力)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2617470"/>
            <a:ext cx="1485900" cy="800100"/>
          </a:xfrm>
          <a:prstGeom prst="roundRect">
            <a:avLst/>
          </a:prstGeom>
          <a:solidFill>
            <a:srgbClr val="FDEDEC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/>
            </a:pPr>
            <a:r>
              <a:t>解码器</a:t>
            </a:r>
            <a:br/>
            <a:r>
              <a:t>(目标查询交叉注意力)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57500" y="3017520"/>
            <a:ext cx="1485900" cy="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5143500" y="3417570"/>
            <a:ext cx="0" cy="40005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943600" y="3017520"/>
            <a:ext cx="914400" cy="0"/>
          </a:xfrm>
          <a:prstGeom prst="line">
            <a:avLst/>
          </a:prstGeom>
          <a:ln w="25400">
            <a:solidFill>
              <a:srgbClr val="7F8C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