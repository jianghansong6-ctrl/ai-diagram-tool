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┌────────────────────────────────────────────────────────────┐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      浏览器端                            │</a:t>
            </a:r>
            <a:br/>
            <a:r>
              <a:t>│  ┌──────────┐  ┌──────────┐  ┌──────────┐  ┌──────────┐  │</a:t>
            </a:r>
            <a:br/>
            <a:r>
              <a:t>│  │历史记录  │  │  Canvas  │  │提示词输入│  │控制面板  │  │</a:t>
            </a:r>
            <a:br/>
            <a:r>
              <a:t>│  │  侧边栏  │  │  画布    │  │ 文件上传 │  │导出按钮  │  │</a:t>
            </a:r>
            <a:br/>
            <a:r>
              <a:t>│  └──────────┘  └──────────┘  └──────────┘  └──────────┘  │</a:t>
            </a:r>
            <a:br/>
            <a:r>
              <a:t>│                      ↕ HTTP / SSE                          │</a:t>
            </a:r>
            <a:br/>
            <a:r>
              <a:t>├────────────────────────────────────────────────────────────┤</a:t>
            </a:r>
            <a:br/>
            <a:r>
              <a:t>│                       FastAPI 后端                          │</a:t>
            </a:r>
            <a:br/>
            <a:r>
              <a:t>│  ┌──────────┐  ┌──────────┐  ┌──────────┐  ┌──────────┐  │</a:t>
            </a:r>
            <a:br/>
            <a:r>
              <a:t>│  │会话管理  │  │ LLM 客户端│  │文件解析  │  │布局优化  │  │</a:t>
            </a:r>
            <a:br/>
            <a:r>
              <a:t>│  │  │       │  │          │  │  OCR     │  │          │  │</a:t>
            </a:r>
            <a:br/>
            <a:r>
              <a:t>│  ├──────────┤  ├──────────┤  ├──────────┤  ├──────────┤  │</a:t>
            </a:r>
            <a:br/>
            <a:r>
              <a:t>│  │数据库    │  │提示词模板│  │格式导出  │  │导出器    │  │</a:t>
            </a:r>
            <a:br/>
            <a:r>
              <a:t>│  │(SQLite)  │  │          │  │PPTX/SVG  │  │          │  │</a:t>
            </a:r>
            <a:br/>
            <a:r>
              <a:t>│  └──────────┘  └──────────┘  └──────────┘  └──────────┘  │</a:t>
            </a:r>
            <a:br/>
            <a:r>
              <a:t>│                      ↕ API                                  │</a:t>
            </a:r>
            <a:br/>
            <a:r>
              <a:t>│               OpenAI / Anthropic LLM API                    │</a:t>
            </a:r>
            <a:br/>
            <a:r>
              <a:t>└────────────────────────────────────────────────────────────┘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2000" y="731520"/>
            <a:ext cx="7620000" cy="914400"/>
          </a:xfrm>
          <a:prstGeom prst="roundRect">
            <a:avLst/>
          </a:prstGeom>
          <a:solidFill>
            <a:srgbClr val="FDEDEC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1950720"/>
            <a:ext cx="7620000" cy="1828800"/>
          </a:xfrm>
          <a:prstGeom prst="roundRect">
            <a:avLst/>
          </a:prstGeom>
          <a:solidFill>
            <a:srgbClr val="FEF9E7"/>
          </a:solidFill>
          <a:ln w="25400">
            <a:solidFill>
              <a:srgbClr val="D4A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4236720"/>
            <a:ext cx="7620000" cy="6096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95400" y="883919"/>
            <a:ext cx="15240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71800" y="883919"/>
            <a:ext cx="15240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648200" y="883919"/>
            <a:ext cx="15240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24600" y="883919"/>
            <a:ext cx="15240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95400" y="2103120"/>
            <a:ext cx="1524000" cy="342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A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95400" y="2522220"/>
            <a:ext cx="1524000" cy="342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A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71800" y="2103120"/>
            <a:ext cx="1524000" cy="342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A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2522220"/>
            <a:ext cx="1524000" cy="342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A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8200" y="2103120"/>
            <a:ext cx="1524000" cy="342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A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48200" y="2522220"/>
            <a:ext cx="1524000" cy="342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A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24600" y="2103120"/>
            <a:ext cx="1524000" cy="342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A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24600" y="2522220"/>
            <a:ext cx="1524000" cy="342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A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048000" y="4312920"/>
            <a:ext cx="30480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8458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A1A2E"/>
                </a:solidFill>
              </a:defRPr>
            </a:pPr>
            <a:r>
              <a:t>浏览器端（用户界面）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0650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A1A2E"/>
                </a:solidFill>
              </a:defRPr>
            </a:pPr>
            <a:r>
              <a:t>FastAPI 后端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510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A1A2E"/>
                </a:solidFill>
              </a:defRPr>
            </a:pPr>
            <a:r>
              <a:t>LLM API 服务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10744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1A1A2E"/>
                </a:solidFill>
              </a:defRPr>
            </a:pPr>
            <a:r>
              <a:t>历史记录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1264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1A1A2E"/>
                </a:solidFill>
              </a:defRPr>
            </a:pPr>
            <a:r>
              <a:t>侧边栏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33799" y="10744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1A1A2E"/>
                </a:solidFill>
              </a:defRPr>
            </a:pPr>
            <a:r>
              <a:t>Canvas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33799" y="1264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1A1A2E"/>
                </a:solidFill>
              </a:defRPr>
            </a:pPr>
            <a:r>
              <a:t>画布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10200" y="10744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1A1A2E"/>
                </a:solidFill>
              </a:defRPr>
            </a:pPr>
            <a:r>
              <a:t>提示词输入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10200" y="1264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1A1A2E"/>
                </a:solidFill>
              </a:defRPr>
            </a:pPr>
            <a:r>
              <a:t>文件上传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10744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1A1A2E"/>
                </a:solidFill>
              </a:defRPr>
            </a:pPr>
            <a:r>
              <a:t>控制面板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1264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1A1A2E"/>
                </a:solidFill>
              </a:defRPr>
            </a:pPr>
            <a:r>
              <a:t>导出按钮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227075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1A1A2E"/>
                </a:solidFill>
              </a:defRPr>
            </a:pPr>
            <a:r>
              <a:t>会话管理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26898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1A1A2E"/>
                </a:solidFill>
              </a:defRPr>
            </a:pPr>
            <a:r>
              <a:t>数据库 (SQLite)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33799" y="227075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1A1A2E"/>
                </a:solidFill>
              </a:defRPr>
            </a:pPr>
            <a:r>
              <a:t>LLM 客户端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33799" y="26898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1A1A2E"/>
                </a:solidFill>
              </a:defRPr>
            </a:pPr>
            <a:r>
              <a:t>提示词模板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10200" y="227075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1A1A2E"/>
                </a:solidFill>
              </a:defRPr>
            </a:pPr>
            <a:r>
              <a:t>文件解析 / OCR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10200" y="26898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1A1A2E"/>
                </a:solidFill>
              </a:defRPr>
            </a:pPr>
            <a:r>
              <a:t>格式导出 (PPTX/SVG)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227075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1A1A2E"/>
                </a:solidFill>
              </a:defRPr>
            </a:pPr>
            <a:r>
              <a:t>布局优化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26898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1A1A2E"/>
                </a:solidFill>
              </a:defRPr>
            </a:pPr>
            <a:r>
              <a:t>导出器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4541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1A1A2E"/>
                </a:solidFill>
              </a:defRPr>
            </a:pPr>
            <a:r>
              <a:t>OpenAI / Anthropic LLM API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0" y="274320"/>
            <a:ext cx="762000" cy="76200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572000" y="487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1A1A2E"/>
                </a:solidFill>
              </a:defRPr>
            </a:pPr>
          </a:p>
        </p:txBody>
      </p:sp>
      <p:sp>
        <p:nvSpPr>
          <p:cNvPr id="41" name="TextBox 40"/>
          <p:cNvSpPr txBox="1"/>
          <p:nvPr/>
        </p:nvSpPr>
        <p:spPr>
          <a:xfrm>
            <a:off x="4572000" y="487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1A1A2E"/>
                </a:solidFill>
              </a:defRPr>
            </a:pPr>
            <a:r>
              <a:t>浏览器-后端-LLM 科学架构图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429000" y="1645920"/>
            <a:ext cx="0" cy="304800"/>
          </a:xfrm>
          <a:prstGeom prst="line">
            <a:avLst/>
          </a:prstGeom>
          <a:ln w="254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5715000" y="1645920"/>
            <a:ext cx="0" cy="304800"/>
          </a:xfrm>
          <a:prstGeom prst="line">
            <a:avLst/>
          </a:prstGeom>
          <a:ln w="254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62000" y="1036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2C3E50"/>
                </a:solidFill>
              </a:defRPr>
            </a:pPr>
          </a:p>
        </p:txBody>
      </p:sp>
      <p:cxnSp>
        <p:nvCxnSpPr>
          <p:cNvPr id="45" name="Connector 44"/>
          <p:cNvCxnSpPr/>
          <p:nvPr/>
        </p:nvCxnSpPr>
        <p:spPr>
          <a:xfrm flipV="1">
            <a:off x="5715000" y="3779520"/>
            <a:ext cx="0" cy="457200"/>
          </a:xfrm>
          <a:prstGeom prst="line">
            <a:avLst/>
          </a:prstGeom>
          <a:ln w="254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