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From semi-coupled to decoupled distillation. When performing a KD from the original SAM to that with a smaller</a:t>
            </a:r>
            <a:br/>
            <a:r>
              <a:t>image encoder, the difficulty mainly lies in a coupled optimization of the image encoder and combined decoder.</a:t>
            </a:r>
            <a:br/>
            <a:r>
              <a:t>Intuitively, the optimization of the image encoder depends on the quality of the image decoder, and vice versa. When the</a:t>
            </a:r>
            <a:br/>
            <a:r>
              <a:t>two modules in the SAM are both in a bad state, it is more challenging to train them both to a good state. Inspired by the</a:t>
            </a:r>
            <a:br/>
            <a:r>
              <a:t>divide-and-conquer algorithm Zhang et al. [2022c], we propose to divide the KD task into two sub-tasks: image encoder</a:t>
            </a:r>
            <a:br/>
            <a:r>
              <a:t>distillation and mask decoder finetuning. Concretely, we first perform the KD on the image encoder by transferring the</a:t>
            </a:r>
            <a:br/>
            <a:r>
              <a:t>knowledge from ViT-H to a smaller encode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31520"/>
            <a:ext cx="8229600" cy="59436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0" y="56007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从半耦合到解耦蒸馏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" y="1188720"/>
            <a:ext cx="3543300" cy="5029200"/>
          </a:xfrm>
          <a:prstGeom prst="roundRect">
            <a:avLst/>
          </a:prstGeom>
          <a:solidFill>
            <a:srgbClr val="FDEDEC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/>
            </a:pPr>
            <a:r>
              <a:t>半耦合蒸馏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57300" y="1874519"/>
            <a:ext cx="2628900" cy="1371600"/>
          </a:xfrm>
          <a:prstGeom prst="roundRect">
            <a:avLst/>
          </a:prstGeom>
          <a:solidFill>
            <a:srgbClr val="FEF9E7"/>
          </a:solidFill>
          <a:ln w="2540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/>
            </a:pPr>
            <a:r>
              <a:t>图像编码器 + 掩码解码器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1750" y="353187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0392B"/>
                </a:solidFill>
              </a:defRPr>
            </a:pPr>
            <a:r>
              <a:t>联合优化 (困难)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600" y="1188720"/>
            <a:ext cx="3543300" cy="502920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/>
            </a:pPr>
            <a:r>
              <a:t>解耦蒸馏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1874519"/>
            <a:ext cx="2628900" cy="914400"/>
          </a:xfrm>
          <a:prstGeom prst="roundRect">
            <a:avLst/>
          </a:prstGeom>
          <a:solidFill>
            <a:srgbClr val="FEF9E7"/>
          </a:solidFill>
          <a:ln w="2540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/>
            </a:pPr>
            <a:r>
              <a:t>编码器蒸馏 (ViT-H → 小编码器)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7800" y="3817620"/>
            <a:ext cx="2628900" cy="914400"/>
          </a:xfrm>
          <a:prstGeom prst="roundRect">
            <a:avLst/>
          </a:prstGeom>
          <a:solidFill>
            <a:srgbClr val="FEF9E7"/>
          </a:solidFill>
          <a:ln w="2540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/>
            </a:pPr>
            <a:r>
              <a:t>掩码解码器微调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72250" y="2788920"/>
            <a:ext cx="0" cy="1028700"/>
          </a:xfrm>
          <a:prstGeom prst="line">
            <a:avLst/>
          </a:prstGeom>
          <a:ln w="25400">
            <a:solidFill>
              <a:srgbClr val="1ABC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